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Problem Statement ID - </a:t>
            </a:r>
            <a:r>
              <a:rPr sz="2200" b="0">
                <a:solidFill>
                  <a:srgbClr val="202020"/>
                </a:solidFill>
                <a:latin typeface="Arial"/>
              </a:rPr>
              <a:t>SIH26038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Problem Statement Title - </a:t>
            </a:r>
            <a:r>
              <a:rPr sz="2200" b="0">
                <a:solidFill>
                  <a:srgbClr val="202020"/>
                </a:solidFill>
                <a:latin typeface="Arial"/>
              </a:rPr>
              <a:t>Explainable AI for Diabetic Retinopathy Screening in Rural India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Theme - </a:t>
            </a:r>
            <a:r>
              <a:rPr sz="2200" b="0">
                <a:solidFill>
                  <a:srgbClr val="202020"/>
                </a:solidFill>
                <a:latin typeface="Arial"/>
              </a:rPr>
              <a:t>MedTech / BioTech / HealthTech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PS Category - </a:t>
            </a:r>
            <a:r>
              <a:rPr sz="2200" b="0">
                <a:solidFill>
                  <a:srgbClr val="202020"/>
                </a:solidFill>
                <a:latin typeface="Arial"/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Team ID - </a:t>
            </a:r>
            <a:r>
              <a:rPr sz="2200" b="0">
                <a:solidFill>
                  <a:srgbClr val="202020"/>
                </a:solidFill>
                <a:latin typeface="Arial"/>
              </a:rPr>
              <a:t>148873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Team Name - </a:t>
            </a:r>
            <a:r>
              <a:rPr sz="2200" b="0">
                <a:solidFill>
                  <a:srgbClr val="202020"/>
                </a:solidFill>
                <a:latin typeface="Arial"/>
              </a:rPr>
              <a:t>MMC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Institute - </a:t>
            </a:r>
            <a:r>
              <a:rPr sz="2200" b="0">
                <a:solidFill>
                  <a:srgbClr val="202020"/>
                </a:solidFill>
                <a:latin typeface="Arial"/>
              </a:rPr>
              <a:t>Motihari College of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rial"/>
              </a:rPr>
              <a:t>MMC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338328" y="1170432"/>
            <a:ext cx="10149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400" b="1">
                <a:solidFill>
                  <a:srgbClr val="1F3864"/>
                </a:solidFill>
                <a:latin typeface="Arial"/>
              </a:rPr>
              <a:t>An explainable, quality-aware AI workflow that grades diabetic retinopathy, surfaces retinal evidence, generates an AI-assisted screening report, and routes each case to screening output, human review, or referral.</a:t>
            </a:r>
          </a:p>
        </p:txBody>
      </p:sp>
      <p:sp>
        <p:nvSpPr>
          <p:cNvPr id="15363" name="Chevron 15362"/>
          <p:cNvSpPr/>
          <p:nvPr/>
        </p:nvSpPr>
        <p:spPr>
          <a:xfrm>
            <a:off x="338328" y="1993392"/>
            <a:ext cx="1783080" cy="868680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Fundus Image</a:t>
            </a:r>
          </a:p>
        </p:txBody>
      </p:sp>
      <p:sp>
        <p:nvSpPr>
          <p:cNvPr id="15364" name="Chevron 15363"/>
          <p:cNvSpPr/>
          <p:nvPr/>
        </p:nvSpPr>
        <p:spPr>
          <a:xfrm>
            <a:off x="1984248" y="1993392"/>
            <a:ext cx="1783080" cy="868680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Quality Check</a:t>
            </a:r>
          </a:p>
        </p:txBody>
      </p:sp>
      <p:sp>
        <p:nvSpPr>
          <p:cNvPr id="15365" name="Chevron 15364"/>
          <p:cNvSpPr/>
          <p:nvPr/>
        </p:nvSpPr>
        <p:spPr>
          <a:xfrm>
            <a:off x="3630168" y="1993392"/>
            <a:ext cx="1783080" cy="868680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Retinal Evidence</a:t>
            </a:r>
          </a:p>
        </p:txBody>
      </p:sp>
      <p:sp>
        <p:nvSpPr>
          <p:cNvPr id="15366" name="Chevron 15365"/>
          <p:cNvSpPr/>
          <p:nvPr/>
        </p:nvSpPr>
        <p:spPr>
          <a:xfrm>
            <a:off x="5276088" y="1993392"/>
            <a:ext cx="1783080" cy="868680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DR Grading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ICDR 0-4</a:t>
            </a:r>
          </a:p>
        </p:txBody>
      </p:sp>
      <p:sp>
        <p:nvSpPr>
          <p:cNvPr id="15367" name="Chevron 15366"/>
          <p:cNvSpPr/>
          <p:nvPr/>
        </p:nvSpPr>
        <p:spPr>
          <a:xfrm>
            <a:off x="6922008" y="1993392"/>
            <a:ext cx="1783080" cy="868680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Explainability</a:t>
            </a:r>
          </a:p>
        </p:txBody>
      </p:sp>
      <p:sp>
        <p:nvSpPr>
          <p:cNvPr id="15368" name="Chevron 15367"/>
          <p:cNvSpPr/>
          <p:nvPr/>
        </p:nvSpPr>
        <p:spPr>
          <a:xfrm>
            <a:off x="8567928" y="1993392"/>
            <a:ext cx="1783080" cy="86868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45720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Screening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Output / Recapture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Human Review / Referral</a:t>
            </a:r>
          </a:p>
        </p:txBody>
      </p:sp>
      <p:pic>
        <p:nvPicPr>
          <p:cNvPr id="15369" name="Picture 15368" descr="case2_referable_good_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063240"/>
            <a:ext cx="6752492" cy="1828800"/>
          </a:xfrm>
          <a:prstGeom prst="rect">
            <a:avLst/>
          </a:prstGeom>
        </p:spPr>
      </p:pic>
      <p:sp>
        <p:nvSpPr>
          <p:cNvPr id="15370" name="Rectangle 15369"/>
          <p:cNvSpPr/>
          <p:nvPr/>
        </p:nvSpPr>
        <p:spPr>
          <a:xfrm>
            <a:off x="338328" y="4956048"/>
            <a:ext cx="6766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000" b="0" dirty="0">
                <a:solidFill>
                  <a:srgbClr val="404040"/>
                </a:solidFill>
                <a:latin typeface="Arial"/>
              </a:rPr>
              <a:t>Real explainability hero case - referable DR (Grad-CAM + AI report snippet)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7406640" y="3063240"/>
            <a:ext cx="4416552" cy="566928"/>
          </a:xfrm>
          <a:prstGeom prst="round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ectangle 15371"/>
          <p:cNvSpPr/>
          <p:nvPr/>
        </p:nvSpPr>
        <p:spPr>
          <a:xfrm>
            <a:off x="7571231" y="3063240"/>
            <a:ext cx="4114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50" b="1">
                <a:solidFill>
                  <a:srgbClr val="1F3864"/>
                </a:solidFill>
                <a:latin typeface="Arial"/>
              </a:rPr>
              <a:t>(1)  Quality-aware screening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7406640" y="3739896"/>
            <a:ext cx="4416552" cy="566928"/>
          </a:xfrm>
          <a:prstGeom prst="round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Rectangle 15373"/>
          <p:cNvSpPr/>
          <p:nvPr/>
        </p:nvSpPr>
        <p:spPr>
          <a:xfrm>
            <a:off x="7571231" y="3739896"/>
            <a:ext cx="4114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50" b="1">
                <a:solidFill>
                  <a:srgbClr val="1F3864"/>
                </a:solidFill>
                <a:latin typeface="Arial"/>
              </a:rPr>
              <a:t>(2)  Evidence-aware explainability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7406640" y="4416552"/>
            <a:ext cx="4416552" cy="566928"/>
          </a:xfrm>
          <a:prstGeom prst="round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Rectangle 15375"/>
          <p:cNvSpPr/>
          <p:nvPr/>
        </p:nvSpPr>
        <p:spPr>
          <a:xfrm>
            <a:off x="7571231" y="4416552"/>
            <a:ext cx="4114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50" b="1">
                <a:solidFill>
                  <a:srgbClr val="1F3864"/>
                </a:solidFill>
                <a:latin typeface="Arial"/>
              </a:rPr>
              <a:t>(3)  MATLAB + Simulink workflow integration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7406640" y="5120640"/>
            <a:ext cx="4416552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Rectangle 15377"/>
          <p:cNvSpPr/>
          <p:nvPr/>
        </p:nvSpPr>
        <p:spPr>
          <a:xfrm>
            <a:off x="7589520" y="5212080"/>
            <a:ext cx="4069080" cy="8961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AI-ASSISTED SCREENING  ≠  AUTONOMOUS DIAGNOSIS</a:t>
            </a:r>
          </a:p>
          <a:p>
            <a:pPr algn="l"/>
            <a:r>
              <a:rPr sz="950" b="0">
                <a:solidFill>
                  <a:srgbClr val="E8F1FA"/>
                </a:solidFill>
                <a:latin typeface="Arial"/>
              </a:rPr>
              <a:t>Clinician oversight + further clinical validation remain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rial"/>
              </a:rPr>
              <a:t>MMC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38328" y="1170432"/>
            <a:ext cx="5852160" cy="2926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411480" y="1170432"/>
            <a:ext cx="5852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METRICS - ONE-SHOT LOCKED TEST  ·  APTOS 2019  ·  n = 732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38328" y="1572768"/>
            <a:ext cx="2697480" cy="786384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ectangle 17412"/>
          <p:cNvSpPr/>
          <p:nvPr/>
        </p:nvSpPr>
        <p:spPr>
          <a:xfrm>
            <a:off x="411480" y="1572768"/>
            <a:ext cx="2560320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0.9027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Quadratic Weighted Kappa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145536" y="1572768"/>
            <a:ext cx="2697480" cy="786384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3218688" y="1572768"/>
            <a:ext cx="2560320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91.92%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Referable Sensitivity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5952744" y="1572768"/>
            <a:ext cx="2697480" cy="786384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6025896" y="1572768"/>
            <a:ext cx="2560320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93.33%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Specificity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8759952" y="1572768"/>
            <a:ext cx="2697480" cy="786384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8833104" y="1572768"/>
            <a:ext cx="2560320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0.9792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ROC AUC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38328" y="2578608"/>
            <a:ext cx="290779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ectangle 17420"/>
          <p:cNvSpPr/>
          <p:nvPr/>
        </p:nvSpPr>
        <p:spPr>
          <a:xfrm>
            <a:off x="338328" y="2578608"/>
            <a:ext cx="290779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ectangle 17421"/>
          <p:cNvSpPr/>
          <p:nvPr/>
        </p:nvSpPr>
        <p:spPr>
          <a:xfrm>
            <a:off x="393192" y="2578608"/>
            <a:ext cx="28163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IMAGE QUALITY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2889503"/>
            <a:ext cx="2779776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1">
                <a:solidFill>
                  <a:srgbClr val="404040"/>
                </a:solidFill>
                <a:latin typeface="Arial"/>
              </a:rPr>
              <a:t>Heuristic quality index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gate → accept / review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3410712" y="2578608"/>
            <a:ext cx="290779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ectangle 17424"/>
          <p:cNvSpPr/>
          <p:nvPr/>
        </p:nvSpPr>
        <p:spPr>
          <a:xfrm>
            <a:off x="3410712" y="2578608"/>
            <a:ext cx="2907792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ectangle 17425"/>
          <p:cNvSpPr/>
          <p:nvPr/>
        </p:nvSpPr>
        <p:spPr>
          <a:xfrm>
            <a:off x="3465576" y="2578608"/>
            <a:ext cx="28163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RETINAL STRUCTURES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3483864" y="2889503"/>
            <a:ext cx="2779776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1">
                <a:solidFill>
                  <a:srgbClr val="404040"/>
                </a:solidFill>
                <a:latin typeface="Arial"/>
              </a:rPr>
              <a:t>OD Dice 0.897 - STRUCTURAL EVIDENCE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fovea 273 px · vessels - PROTOTYPE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6483096" y="2578608"/>
            <a:ext cx="290779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ectangle 17428"/>
          <p:cNvSpPr/>
          <p:nvPr/>
        </p:nvSpPr>
        <p:spPr>
          <a:xfrm>
            <a:off x="6483096" y="2578608"/>
            <a:ext cx="290779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Rectangle 17429"/>
          <p:cNvSpPr/>
          <p:nvPr/>
        </p:nvSpPr>
        <p:spPr>
          <a:xfrm>
            <a:off x="6537959" y="2578608"/>
            <a:ext cx="28163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LESION EVIDENCE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6556248" y="2889503"/>
            <a:ext cx="2779776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1">
                <a:solidFill>
                  <a:srgbClr val="404040"/>
                </a:solidFill>
                <a:latin typeface="Arial"/>
              </a:rPr>
              <a:t>MA · HE · EX · SE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mean Dice 0.409 - PROTOTYPE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338328" y="3749039"/>
            <a:ext cx="290779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ectangle 17432"/>
          <p:cNvSpPr/>
          <p:nvPr/>
        </p:nvSpPr>
        <p:spPr>
          <a:xfrm>
            <a:off x="338328" y="3749039"/>
            <a:ext cx="2907792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Rectangle 17433"/>
          <p:cNvSpPr/>
          <p:nvPr/>
        </p:nvSpPr>
        <p:spPr>
          <a:xfrm>
            <a:off x="393192" y="3749039"/>
            <a:ext cx="28163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DR GRADING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411480" y="4059935"/>
            <a:ext cx="2779776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1">
                <a:solidFill>
                  <a:srgbClr val="404040"/>
                </a:solidFill>
                <a:latin typeface="Arial"/>
              </a:rPr>
              <a:t>ICDR 0-4 · QWK 0.9027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T=1.25 temp. scaling + argmax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3410712" y="3749039"/>
            <a:ext cx="290779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ectangle 17436"/>
          <p:cNvSpPr/>
          <p:nvPr/>
        </p:nvSpPr>
        <p:spPr>
          <a:xfrm>
            <a:off x="3410712" y="3749039"/>
            <a:ext cx="290779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Rectangle 17437"/>
          <p:cNvSpPr/>
          <p:nvPr/>
        </p:nvSpPr>
        <p:spPr>
          <a:xfrm>
            <a:off x="3465576" y="3749039"/>
            <a:ext cx="28163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EXPLAINABILITY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483864" y="4059935"/>
            <a:ext cx="2779776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1">
                <a:solidFill>
                  <a:srgbClr val="404040"/>
                </a:solidFill>
                <a:latin typeface="Arial"/>
              </a:rPr>
              <a:t>Grad-CAM attention evidence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AI-assisted screening report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6483096" y="3749039"/>
            <a:ext cx="290779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ectangle 17440"/>
          <p:cNvSpPr/>
          <p:nvPr/>
        </p:nvSpPr>
        <p:spPr>
          <a:xfrm>
            <a:off x="6483096" y="3749039"/>
            <a:ext cx="2907792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ectangle 17441"/>
          <p:cNvSpPr/>
          <p:nvPr/>
        </p:nvSpPr>
        <p:spPr>
          <a:xfrm>
            <a:off x="6537959" y="3749039"/>
            <a:ext cx="28163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MATLAB / SIMULINK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6556248" y="4059935"/>
            <a:ext cx="2779776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1">
                <a:solidFill>
                  <a:srgbClr val="404040"/>
                </a:solidFill>
                <a:latin typeface="Arial"/>
              </a:rPr>
              <a:t>ONNX export · parity 6.7e-6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queue / workflow simulation</a:t>
            </a:r>
          </a:p>
        </p:txBody>
      </p:sp>
      <p:pic>
        <p:nvPicPr>
          <p:cNvPr id="17444" name="Picture 17443" descr="case_EX_1091_2_mon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578608"/>
            <a:ext cx="2084831" cy="2084831"/>
          </a:xfrm>
          <a:prstGeom prst="rect">
            <a:avLst/>
          </a:prstGeom>
        </p:spPr>
      </p:pic>
      <p:sp>
        <p:nvSpPr>
          <p:cNvPr id="17445" name="Rectangle 17444"/>
          <p:cNvSpPr/>
          <p:nvPr/>
        </p:nvSpPr>
        <p:spPr>
          <a:xfrm>
            <a:off x="9646920" y="4736592"/>
            <a:ext cx="2084831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850" b="1">
                <a:solidFill>
                  <a:srgbClr val="404040"/>
                </a:solidFill>
                <a:latin typeface="Arial"/>
              </a:rPr>
              <a:t>FGADR prototype - EX case 1091_2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Arial"/>
              </a:rPr>
              <a:t>Dice 0.871 (PROTOTYPE)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338328" y="5321808"/>
            <a:ext cx="11658600" cy="786384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Rectangle 17446"/>
          <p:cNvSpPr/>
          <p:nvPr/>
        </p:nvSpPr>
        <p:spPr>
          <a:xfrm>
            <a:off x="457200" y="5358384"/>
            <a:ext cx="114300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Arial"/>
              </a:rPr>
              <a:t>MATLAB / ONNX parity max ≈ 6.7e-6   ·   Python → ONNX ≈ 8.1e-6   ·   MATLAB reproduced all 4 routing cases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Lesion / fovea / vessel components are labelled PROTOTYPE.  Optic-disc Dice 0.897 is STRUCTURAL EVIDENCE, not lesion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rial"/>
              </a:rPr>
              <a:t>MMC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38328" y="1325880"/>
            <a:ext cx="3703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475488" y="1325880"/>
            <a:ext cx="3429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VALIDATED NOW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38328" y="1783080"/>
            <a:ext cx="37033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ectangle 17412"/>
          <p:cNvSpPr/>
          <p:nvPr/>
        </p:nvSpPr>
        <p:spPr>
          <a:xfrm>
            <a:off x="484632" y="1920240"/>
            <a:ext cx="3410712" cy="3611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100" b="1">
                <a:solidFill>
                  <a:srgbClr val="202020"/>
                </a:solidFill>
                <a:latin typeface="Arial"/>
              </a:rPr>
              <a:t>•  Locked APTOS test n=732: QWK 0.9027 · Sens 91.92% · Spec 93.33%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MATLAB / ONNX parity ≈ 6.7e-6 · 4/4 routing cases reproduced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0 missed referable cases (evaluated workflow)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Simulink LOW / BASE / HIGH queue scenarios drained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224528" y="1325880"/>
            <a:ext cx="370332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4361688" y="1325880"/>
            <a:ext cx="3429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PROTOTYPE EVIDENCE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224528" y="1783080"/>
            <a:ext cx="37033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4370832" y="1920240"/>
            <a:ext cx="3410712" cy="3611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100" b="1">
                <a:solidFill>
                  <a:srgbClr val="202020"/>
                </a:solidFill>
                <a:latin typeface="Arial"/>
              </a:rPr>
              <a:t>•  Optic-disc structural Dice 0.897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Fovea prototype: median 273 px · 32% within 200 px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FGADR lesion evidence: mean Dice 0.409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Real AI-assisted reports · Grad-CAM + lesion overlays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8110727" y="1325880"/>
            <a:ext cx="3703320" cy="457200"/>
          </a:xfrm>
          <a:prstGeom prst="rect">
            <a:avLst/>
          </a:prstGeom>
          <a:solidFill>
            <a:srgbClr val="C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8247888" y="1325880"/>
            <a:ext cx="3429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REMAINING VALIDATION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8110727" y="1783080"/>
            <a:ext cx="37033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ectangle 17420"/>
          <p:cNvSpPr/>
          <p:nvPr/>
        </p:nvSpPr>
        <p:spPr>
          <a:xfrm>
            <a:off x="8257031" y="1920240"/>
            <a:ext cx="3410712" cy="3611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100" b="1">
                <a:solidFill>
                  <a:srgbClr val="202020"/>
                </a:solidFill>
                <a:latin typeface="Arial"/>
              </a:rPr>
              <a:t>•  Clinician reviewer study (pending)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Prospective clinical validation (pending)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NV - insufficient data (experimental-only)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Broader external-domain validation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Field deployment / offline hardware validation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338328" y="5742432"/>
            <a:ext cx="1147572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ectangle 17422"/>
          <p:cNvSpPr/>
          <p:nvPr/>
        </p:nvSpPr>
        <p:spPr>
          <a:xfrm>
            <a:off x="502920" y="5742432"/>
            <a:ext cx="111556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NEXT VALIDATION:  blinded clinician review of AI report + routing + evidence overlays  (pending - not yet executed)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rial"/>
              </a:rPr>
              <a:t>MMC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38328" y="1280160"/>
            <a:ext cx="4114800" cy="80467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338328" y="1280160"/>
            <a:ext cx="4114800" cy="804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PHC / EYE CAMP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572000" y="1938527"/>
            <a:ext cx="320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38328" y="2231136"/>
            <a:ext cx="4114800" cy="80467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ectangle 17413"/>
          <p:cNvSpPr/>
          <p:nvPr/>
        </p:nvSpPr>
        <p:spPr>
          <a:xfrm>
            <a:off x="338328" y="2231136"/>
            <a:ext cx="4114800" cy="804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LOCAL AI SCREENING</a:t>
            </a:r>
          </a:p>
          <a:p>
            <a:pPr algn="ctr"/>
            <a:r>
              <a:rPr sz="950" b="0">
                <a:solidFill>
                  <a:srgbClr val="E8F1FA"/>
                </a:solidFill>
                <a:latin typeface="Arial"/>
              </a:rPr>
              <a:t>(AI-assisted prototype)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572000" y="2889503"/>
            <a:ext cx="320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38328" y="3182112"/>
            <a:ext cx="4114800" cy="80467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338328" y="3182112"/>
            <a:ext cx="4114800" cy="804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AI EVIDENCE + REPORT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4572000" y="3840480"/>
            <a:ext cx="320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38328" y="4133087"/>
            <a:ext cx="4114800" cy="80467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ectangle 17419"/>
          <p:cNvSpPr/>
          <p:nvPr/>
        </p:nvSpPr>
        <p:spPr>
          <a:xfrm>
            <a:off x="338328" y="4133087"/>
            <a:ext cx="4114800" cy="804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CLINICIAN REVIEW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4572000" y="4791455"/>
            <a:ext cx="320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ctr"/>
            <a:r>
              <a:rPr sz="16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38328" y="5084064"/>
            <a:ext cx="4114800" cy="80467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ectangle 17422"/>
          <p:cNvSpPr/>
          <p:nvPr/>
        </p:nvSpPr>
        <p:spPr>
          <a:xfrm>
            <a:off x="338328" y="5084064"/>
            <a:ext cx="4114800" cy="804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DISTRICT REFERRAL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5074920" y="1325880"/>
            <a:ext cx="169164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ectangle 17424"/>
          <p:cNvSpPr/>
          <p:nvPr/>
        </p:nvSpPr>
        <p:spPr>
          <a:xfrm>
            <a:off x="5120640" y="1325880"/>
            <a:ext cx="16002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91.92%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Arial"/>
              </a:rPr>
              <a:t>referable sensitivity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6876288" y="1325880"/>
            <a:ext cx="169164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ectangle 17426"/>
          <p:cNvSpPr/>
          <p:nvPr/>
        </p:nvSpPr>
        <p:spPr>
          <a:xfrm>
            <a:off x="6922007" y="1325880"/>
            <a:ext cx="16002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93.33%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Arial"/>
              </a:rPr>
              <a:t>specificity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8677656" y="1325880"/>
            <a:ext cx="169164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ectangle 17428"/>
          <p:cNvSpPr/>
          <p:nvPr/>
        </p:nvSpPr>
        <p:spPr>
          <a:xfrm>
            <a:off x="8723376" y="1325880"/>
            <a:ext cx="16002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161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Arial"/>
              </a:rPr>
              <a:t>human-review cases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10479024" y="1325880"/>
            <a:ext cx="169164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ectangle 17430"/>
          <p:cNvSpPr/>
          <p:nvPr/>
        </p:nvSpPr>
        <p:spPr>
          <a:xfrm>
            <a:off x="10524744" y="1325880"/>
            <a:ext cx="16002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2000" b="1">
                <a:solidFill>
                  <a:srgbClr val="1F3864"/>
                </a:solidFill>
                <a:latin typeface="Arial"/>
              </a:rPr>
              <a:t>302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Arial"/>
              </a:rPr>
              <a:t>referral cases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5074920" y="2395728"/>
            <a:ext cx="7068312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ectangle 17432"/>
          <p:cNvSpPr/>
          <p:nvPr/>
        </p:nvSpPr>
        <p:spPr>
          <a:xfrm>
            <a:off x="5257800" y="2395728"/>
            <a:ext cx="67208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≈ 346,000 screenings / year - MODELED CAPACITY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5257800" y="2788920"/>
            <a:ext cx="6720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00" b="0">
                <a:solidFill>
                  <a:srgbClr val="E8F1FA"/>
                </a:solidFill>
                <a:latin typeface="Arial"/>
              </a:rPr>
              <a:t>Simulink queue/workflow simulation only - not deployed or clinically validated capacity.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5074920" y="3429000"/>
            <a:ext cx="2286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Rectangle 17435"/>
          <p:cNvSpPr/>
          <p:nvPr/>
        </p:nvSpPr>
        <p:spPr>
          <a:xfrm>
            <a:off x="5166359" y="352044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Technician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5166359" y="3913632"/>
            <a:ext cx="21031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Instant quality check + evidence pack at PHC / camps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7498079" y="3429000"/>
            <a:ext cx="2286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Rectangle 17438"/>
          <p:cNvSpPr/>
          <p:nvPr/>
        </p:nvSpPr>
        <p:spPr>
          <a:xfrm>
            <a:off x="7589519" y="352044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Clinician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7589519" y="3913632"/>
            <a:ext cx="21031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AI-assisted report with explainable overlays, remote review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9921240" y="3429000"/>
            <a:ext cx="2286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ectangle 17441"/>
          <p:cNvSpPr/>
          <p:nvPr/>
        </p:nvSpPr>
        <p:spPr>
          <a:xfrm>
            <a:off x="10012680" y="352044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District system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10012680" y="3913632"/>
            <a:ext cx="21031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950" b="0">
                <a:solidFill>
                  <a:srgbClr val="404040"/>
                </a:solidFill>
                <a:latin typeface="Arial"/>
              </a:rPr>
              <a:t>Standardized routing + referral queue, reduced specialist load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5074920" y="5074920"/>
            <a:ext cx="7068312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Rectangle 17444"/>
          <p:cNvSpPr/>
          <p:nvPr/>
        </p:nvSpPr>
        <p:spPr>
          <a:xfrm>
            <a:off x="5257800" y="5120640"/>
            <a:ext cx="6720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HUMAN-IN-THE-LOOP:  AI screens and routes; clinician reviews; referral is clinician-driven.</a:t>
            </a:r>
          </a:p>
          <a:p>
            <a:pPr algn="l"/>
            <a:r>
              <a:rPr sz="950" b="0">
                <a:solidFill>
                  <a:srgbClr val="E8F1FA"/>
                </a:solidFill>
                <a:latin typeface="Arial"/>
              </a:rPr>
              <a:t>AI-assisted screening report ≠ autonomous diagnosis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Arial"/>
              </a:rPr>
              <a:t>MMC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38328" y="1280160"/>
            <a:ext cx="672084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475488" y="1280160"/>
            <a:ext cx="6400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A.  RESEARCH / EVIDENCE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38328" y="1755648"/>
            <a:ext cx="6720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ectangle 17412"/>
          <p:cNvSpPr/>
          <p:nvPr/>
        </p:nvSpPr>
        <p:spPr>
          <a:xfrm>
            <a:off x="502920" y="1938528"/>
            <a:ext cx="6400800" cy="4023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APTOS 2019 -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Kaggle blindness challenge - locked test n = 732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FGADR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arXiv:2008.09772 - lesion prototype (non-commercial use)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IDRiD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IEEE JBHI 2020 - external OD / fovea + lesion reference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DRIVE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vessel prototype (dev split only; not official test)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ICDR 5-point scale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Wilkinson et al., Diabetes Care 2003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Grad-CAM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Selvaraju et al., CVPR - classifier attention evidence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ONNX → MATLAB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parity ≈ 6.7e-6 - PyTorch model exported via ONNX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  <a:p>
            <a:pPr algn="l"/>
            <a:r>
              <a:rPr sz="1100" b="1">
                <a:solidFill>
                  <a:srgbClr val="1F3864"/>
                </a:solidFill>
                <a:latin typeface="Arial"/>
              </a:rPr>
              <a:t>Simulink - 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queue / workflow simulation (modeled capacity)</a:t>
            </a:r>
          </a:p>
          <a:p>
            <a:pPr algn="l"/>
            <a:r>
              <a:rPr sz="400" b="0">
                <a:solidFill>
                  <a:srgbClr val="202020"/>
                </a:solidFill>
                <a:latin typeface="Arial"/>
              </a:rPr>
              <a:t>
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7333488" y="1280160"/>
            <a:ext cx="4526280" cy="457200"/>
          </a:xfrm>
          <a:prstGeom prst="rect">
            <a:avLst/>
          </a:prstGeom>
          <a:solidFill>
            <a:srgbClr val="C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7470648" y="1280160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B.  LIMITATIONS / NEXT STEP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7333488" y="1755648"/>
            <a:ext cx="45262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7498079" y="1938528"/>
            <a:ext cx="4206240" cy="4023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18288" bIns="18288" rtlCol="0" anchor="t"/>
          <a:lstStyle/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Clinician reviewer validation - pending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NV evidence - insufficient data (experimental-only)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Lesion segmentation - research prototype (MA 0.256 weakest)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External / domain-shift risk - broader validation required</a:t>
            </a:r>
          </a:p>
          <a:p>
            <a:pPr algn="l"/>
            <a:r>
              <a:rPr sz="1100" b="0">
                <a:solidFill>
                  <a:srgbClr val="202020"/>
                </a:solidFill>
                <a:latin typeface="Arial"/>
              </a:rPr>
              <a:t>•  Prospective clinical validation - required before deployment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764</Words>
  <Application>Microsoft Office PowerPoint</Application>
  <PresentationFormat>Widescreen</PresentationFormat>
  <Paragraphs>158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aersews</cp:lastModifiedBy>
  <cp:revision>149</cp:revision>
  <dcterms:created xsi:type="dcterms:W3CDTF">2013-12-12T18:46:50Z</dcterms:created>
  <dcterms:modified xsi:type="dcterms:W3CDTF">2026-09-25T08:00:20Z</dcterms:modified>
  <cp:category/>
</cp:coreProperties>
</file>